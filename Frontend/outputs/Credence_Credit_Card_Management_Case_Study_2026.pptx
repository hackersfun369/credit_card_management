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19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C8E7-953A-44F2-9477-077463CC3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D06FE-64A3-4282-A7C7-3256982F0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B05D5-F7B9-4BC4-854B-26CA4B0B6C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5244F-9DE0-4311-98E7-979223CAAD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C46E0-7E37-4E5A-B114-3DB38755DD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D60D9-5372-5F40-9443-0F9AE5BDC3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18E4-7BB1-4265-B0B5-4E645070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2E60D-E1DF-47C3-A729-6129A5505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74F60-074B-42E3-93F3-E30676F49A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19B90-5687-47BC-8194-548315B7F5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6D884-4A8F-42D0-86F8-8C269F60D4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D60D9-5372-5F40-9443-0F9AE5BDC3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9606-84C5-4E5D-951E-90974F0A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30ABE-968A-4963-B3BD-9FC8254C6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EA455-CF1D-4826-B9B9-AE0F38A8B8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3D559-0CE3-4968-8806-82EF425A42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9E45C-C19F-4B2B-9E86-F05814FE01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D60D9-5372-5F40-9443-0F9AE5BDC3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199B-4DA4-4EBA-8264-DD09068D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6BBAB-79C8-4BDB-8E60-D9ADED435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E07B4-0C55-49FA-87C5-C32F1B7A15C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0FCE2-3922-48B5-B255-3D2703A965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CDE17-DD7A-4391-BC47-30FE6D7403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39356-BA5B-4934-A54D-B09A4F2468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D60D9-5372-5F40-9443-0F9AE5BDC3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7B1E-16A9-43CA-84C3-C099FBB7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B1489-F149-4373-A061-784A78659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FCFDF-791D-4E5A-88EF-4666700A6DC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E201E1-04A4-4252-B4C8-CD8E5CC29A6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8305-BA6E-4AB8-BE71-7C67DCB3081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B045EF-8FBD-489A-9B26-6CBCBB2E7E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A0626B-325B-4EE5-9DC5-30817D622E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4C9163-A7A4-48EC-A349-D6F0022470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D60D9-5372-5F40-9443-0F9AE5BDC3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23B8F-2962-4DCD-B86D-0B5B291D8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7B1463-C08D-4A6D-86E3-4E409FBFB9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078F6-64AE-45BB-9CC0-0BC7D75B27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9829F0-0F83-448D-9A8B-BE1FA8A147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D60D9-5372-5F40-9443-0F9AE5BDC3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1D6B1-0051-447C-BFF8-04E825847D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68E58-142A-4CEB-9B9C-B9B995AA19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1C89-CAAB-4BB2-B802-06189FDD88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D60D9-5372-5F40-9443-0F9AE5BDC3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AB42-B293-4172-8BDD-C85D10143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D6D3F-83FB-49D3-B8D8-51AAE6EE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D6E66-8EC4-43A0-9A80-005184DC15B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6B7A5-0BE7-4A99-BEFF-37671B39C8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3B393-A0CA-4422-A715-0E87A70251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C010F-FE3B-4FC7-B42C-58029836CA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D60D9-5372-5F40-9443-0F9AE5BDC3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8536-392A-4D00-B5D9-F8B9E9492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5EF5AA-2E2F-459A-BF16-5EAFD4154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D5372-CF1B-4B7E-8738-8261144F083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F0A28-7973-4F96-8EBD-912C7E0DE4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8CAEB-A85B-4F55-A783-A5227ABE83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6564F-3B92-4218-A8A6-2AAFEA1FE5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D60D9-5372-5F40-9443-0F9AE5BDC3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1F3D-9074-4F1E-A405-BFD1BE66A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197A-8BCD-46CB-B4EA-FA390FB7E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79B9A-E457-4531-BAD9-E529AACC24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36785-65D3-4A84-BB87-7684571D39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D6B86-C426-4350-A7F6-4E913013FD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D60D9-5372-5F40-9443-0F9AE5BDC3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F0E2DE-CDEC-46ED-B30B-42EDDB96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05832-E080-477A-8C8E-BA6DDA13A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4003A-E627-47B0-A776-C8DC8D715D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6A761-5B45-42DD-B6D3-63370257C0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3111C-9078-49CD-9461-AC599DB5E5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5D60D9-5372-5F40-9443-0F9AE5BDC3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Light - Title with Abstract Bor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Field">
            <a:extLst>
              <a:ext uri="{FF2B5EF4-FFF2-40B4-BE49-F238E27FC236}">
                <a16:creationId xmlns:a16="http://schemas.microsoft.com/office/drawing/2014/main" id="{7F29C372-9BB3-B540-BC47-46BD6E59417E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018030" y="4706392"/>
            <a:ext cx="5077970" cy="895181"/>
          </a:xfrm>
        </p:spPr>
        <p:txBody>
          <a:bodyPr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r>
              <a:t>Presenter’s Title</a:t>
            </a:r>
          </a:p>
          <a:p>
            <a:pPr>
              <a:buNone/>
            </a:pPr>
            <a:r>
              <a:t>Organization, Division or Business Unit</a:t>
            </a:r>
          </a:p>
          <a:p>
            <a:pPr>
              <a:buNone/>
            </a:pPr>
            <a:r>
              <a:t>Month 00, 2019</a:t>
            </a:r>
          </a:p>
        </p:txBody>
      </p:sp>
      <p:sp>
        <p:nvSpPr>
          <p:cNvPr id="15" name="Text Field">
            <a:extLst>
              <a:ext uri="{FF2B5EF4-FFF2-40B4-BE49-F238E27FC236}">
                <a16:creationId xmlns:a16="http://schemas.microsoft.com/office/drawing/2014/main" id="{5EDA7B8D-9195-5945-993F-1344630DF996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018030" y="4368799"/>
            <a:ext cx="5077970" cy="266291"/>
          </a:xfrm>
        </p:spPr>
        <p:txBody>
          <a:bodyPr>
            <a:noAutofit/>
          </a:bodyPr>
          <a:lstStyle>
            <a:lvl1pPr>
              <a:buNone/>
              <a:defRPr b="1"/>
            </a:lvl1pPr>
          </a:lstStyle>
          <a:p>
            <a:pPr>
              <a:buNone/>
            </a:pPr>
            <a:r>
              <a:t>Name</a:t>
            </a:r>
          </a:p>
        </p:txBody>
      </p:sp>
      <p:sp>
        <p:nvSpPr>
          <p:cNvPr id="27" name="Subhead">
            <a:extLst>
              <a:ext uri="{FF2B5EF4-FFF2-40B4-BE49-F238E27FC236}">
                <a16:creationId xmlns:a16="http://schemas.microsoft.com/office/drawing/2014/main" id="{12EB3548-39AB-5846-A4F6-A7D8515AEE59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26" name="Title">
            <a:extLst>
              <a:ext uri="{FF2B5EF4-FFF2-40B4-BE49-F238E27FC236}">
                <a16:creationId xmlns:a16="http://schemas.microsoft.com/office/drawing/2014/main" id="{2E021ED4-814D-9648-831F-EDE24ED2D4F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459230"/>
            <a:ext cx="10158984" cy="1025922"/>
          </a:xfrm>
        </p:spPr>
        <p:txBody>
          <a:bodyPr wrap="square" anchor="b">
            <a:noAutofit/>
          </a:bodyPr>
          <a:lstStyle>
            <a:lvl1pPr algn="l">
              <a:lnSpc>
                <a:spcPts val="4000"/>
              </a:lnSpc>
              <a:buNone/>
              <a:defRPr sz="4000" b="0">
                <a:latin typeface="Georgia"/>
                <a:ea typeface="Georgia"/>
                <a:cs typeface="Georgia"/>
              </a:defRPr>
            </a:lvl1pPr>
          </a:lstStyle>
          <a:p>
            <a:r>
              <a:t>Title goes here (up to two lines) </a:t>
            </a:r>
            <a:br/>
            <a:r>
              <a:t>Georgia Regular 40pt</a:t>
            </a:r>
          </a:p>
        </p:txBody>
      </p:sp>
      <p:pic>
        <p:nvPicPr>
          <p:cNvPr id="34" name="Abstract Illustration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35" name="OTa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14" name="Accent Mark">
            <a:extLst>
              <a:ext uri="{FF2B5EF4-FFF2-40B4-BE49-F238E27FC236}">
                <a16:creationId xmlns:a16="http://schemas.microsoft.com/office/drawing/2014/main" id="{0AF8902E-8037-46A3-8D22-941A6CC2B066}"/>
              </a:ext>
            </a:extLst>
          </p:cNvPr>
          <p:cNvSpPr>
            <a:spLocks noGrp="1"/>
          </p:cNvSpPr>
          <p:nvPr/>
        </p:nvSpPr>
        <p:spPr>
          <a:xfrm flipH="1">
            <a:off x="1018030" y="4114800"/>
            <a:ext cx="320040" cy="0"/>
          </a:xfrm>
          <a:prstGeom prst="line">
            <a:avLst/>
          </a:prstGeom>
          <a:ln w="381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ight - Title with Abstract Bor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Abstract Illustration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31" name="OTa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4" name="Text Field">
            <a:extLst>
              <a:ext uri="{FF2B5EF4-FFF2-40B4-BE49-F238E27FC236}">
                <a16:creationId xmlns:a16="http://schemas.microsoft.com/office/drawing/2014/main" id="{7F29C372-9BB3-B540-BC47-46BD6E59417E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018030" y="4706392"/>
            <a:ext cx="5077970" cy="895181"/>
          </a:xfrm>
        </p:spPr>
        <p:txBody>
          <a:bodyPr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r>
              <a:t>Presenter’s Title</a:t>
            </a:r>
          </a:p>
          <a:p>
            <a:pPr>
              <a:buNone/>
            </a:pPr>
            <a:r>
              <a:t>Organization, Division or Business Unit</a:t>
            </a:r>
          </a:p>
          <a:p>
            <a:pPr>
              <a:buNone/>
            </a:pPr>
            <a:r>
              <a:t>Month 00, 2019</a:t>
            </a:r>
          </a:p>
        </p:txBody>
      </p:sp>
      <p:sp>
        <p:nvSpPr>
          <p:cNvPr id="15" name="Text Field">
            <a:extLst>
              <a:ext uri="{FF2B5EF4-FFF2-40B4-BE49-F238E27FC236}">
                <a16:creationId xmlns:a16="http://schemas.microsoft.com/office/drawing/2014/main" id="{5EDA7B8D-9195-5945-993F-1344630DF996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018030" y="4368799"/>
            <a:ext cx="5077970" cy="266291"/>
          </a:xfrm>
        </p:spPr>
        <p:txBody>
          <a:bodyPr>
            <a:noAutofit/>
          </a:bodyPr>
          <a:lstStyle>
            <a:lvl1pPr>
              <a:buNone/>
              <a:defRPr b="1"/>
            </a:lvl1pPr>
          </a:lstStyle>
          <a:p>
            <a:pPr>
              <a:buNone/>
            </a:pPr>
            <a:r>
              <a:t>Name</a:t>
            </a:r>
          </a:p>
        </p:txBody>
      </p:sp>
      <p:sp>
        <p:nvSpPr>
          <p:cNvPr id="18" name="Accent Mark">
            <a:extLst>
              <a:ext uri="{FF2B5EF4-FFF2-40B4-BE49-F238E27FC236}">
                <a16:creationId xmlns:a16="http://schemas.microsoft.com/office/drawing/2014/main" id="{587823FE-9B15-4BB4-9C2E-8EB55A373879}"/>
              </a:ext>
            </a:extLst>
          </p:cNvPr>
          <p:cNvSpPr>
            <a:spLocks noGrp="1"/>
          </p:cNvSpPr>
          <p:nvPr/>
        </p:nvSpPr>
        <p:spPr>
          <a:xfrm flipH="1">
            <a:off x="1018030" y="4114800"/>
            <a:ext cx="320040" cy="0"/>
          </a:xfrm>
          <a:prstGeom prst="line">
            <a:avLst/>
          </a:prstGeom>
          <a:ln w="381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Subhead">
            <a:extLst>
              <a:ext uri="{FF2B5EF4-FFF2-40B4-BE49-F238E27FC236}">
                <a16:creationId xmlns:a16="http://schemas.microsoft.com/office/drawing/2014/main" id="{12EB3548-39AB-5846-A4F6-A7D8515AEE59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26" name="Title">
            <a:extLst>
              <a:ext uri="{FF2B5EF4-FFF2-40B4-BE49-F238E27FC236}">
                <a16:creationId xmlns:a16="http://schemas.microsoft.com/office/drawing/2014/main" id="{2E021ED4-814D-9648-831F-EDE24ED2D4F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459230"/>
            <a:ext cx="10158984" cy="1025922"/>
          </a:xfrm>
        </p:spPr>
        <p:txBody>
          <a:bodyPr wrap="square" anchor="b">
            <a:noAutofit/>
          </a:bodyPr>
          <a:lstStyle>
            <a:lvl1pPr algn="l">
              <a:lnSpc>
                <a:spcPts val="4000"/>
              </a:lnSpc>
              <a:buNone/>
              <a:defRPr sz="4000" b="0">
                <a:latin typeface="Georgia"/>
                <a:ea typeface="Georgia"/>
                <a:cs typeface="Georgia"/>
              </a:defRPr>
            </a:lvl1pPr>
          </a:lstStyle>
          <a:p>
            <a:r>
              <a:t>Title goes here (up to two lines) </a:t>
            </a:r>
            <a:br/>
            <a:r>
              <a:t>Georgia Regular 40pt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ight - Numbered Outli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Data Texture Cloud"/>
          <p:cNvPicPr>
            <a:picLocks noChangeAspect="1"/>
          </p:cNvPicPr>
          <p:nvPr/>
        </p:nvPicPr>
        <p:blipFill rotWithShape="1">
          <a:blip r:embed="rId2">
            <a:alphaModFix amt="80000"/>
          </a:blip>
          <a:srcRect r="48609"/>
          <a:stretch/>
        </p:blipFill>
        <p:spPr>
          <a:xfrm>
            <a:off x="9881411" y="521208"/>
            <a:ext cx="2310589" cy="1700784"/>
          </a:xfrm>
          <a:prstGeom prst="rect">
            <a:avLst/>
          </a:prstGeom>
        </p:spPr>
      </p:pic>
      <p:pic>
        <p:nvPicPr>
          <p:cNvPr id="35" name="OTa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5" name="Footer">
            <a:extLst>
              <a:ext uri="{FF2B5EF4-FFF2-40B4-BE49-F238E27FC236}">
                <a16:creationId xmlns:a16="http://schemas.microsoft.com/office/drawing/2014/main" id="{5C832301-2AE4-1245-BF5A-702B011155A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buNone/>
              <a:defRPr sz="1000">
                <a:solidFill>
                  <a:srgbClr val="8B8580"/>
                </a:solidFill>
              </a:defRPr>
            </a:lvl1pPr>
          </a:lstStyle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ADC3B97F-4317-2244-A893-1F690DBA4FE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buNone/>
              <a:defRPr sz="10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t>‹#›</a:t>
            </a:fld>
            <a:endParaRPr/>
          </a:p>
        </p:txBody>
      </p:sp>
      <p:sp>
        <p:nvSpPr>
          <p:cNvPr id="18" name="Number">
            <a:extLst>
              <a:ext uri="{FF2B5EF4-FFF2-40B4-BE49-F238E27FC236}">
                <a16:creationId xmlns:a16="http://schemas.microsoft.com/office/drawing/2014/main" id="{0EC907BF-0F79-AE40-A0E1-10EDEEBBAE5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68095" y="3916426"/>
            <a:ext cx="439953" cy="395562"/>
          </a:xfrm>
          <a:prstGeom prst="rect">
            <a:avLst/>
          </a:prstGeom>
        </p:spPr>
        <p:txBody>
          <a:bodyPr wrap="none" lIns="0" rIns="0">
            <a:noAutofit/>
          </a:bodyPr>
          <a:lstStyle>
            <a:lvl1pPr marL="0" indent="0" algn="ctr">
              <a:buNone/>
              <a:defRPr sz="2000">
                <a:solidFill>
                  <a:schemeClr val="accent5"/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17" name="Number">
            <a:extLst>
              <a:ext uri="{FF2B5EF4-FFF2-40B4-BE49-F238E27FC236}">
                <a16:creationId xmlns:a16="http://schemas.microsoft.com/office/drawing/2014/main" id="{D25DA43B-4E3A-394F-B8B3-16A0A25D880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68095" y="3397254"/>
            <a:ext cx="439953" cy="395562"/>
          </a:xfrm>
          <a:prstGeom prst="rect">
            <a:avLst/>
          </a:prstGeom>
        </p:spPr>
        <p:txBody>
          <a:bodyPr wrap="none" lIns="0" rIns="0">
            <a:noAutofit/>
          </a:bodyPr>
          <a:lstStyle>
            <a:lvl1pPr marL="0" indent="0" algn="ctr">
              <a:buNone/>
              <a:defRPr sz="2000">
                <a:solidFill>
                  <a:schemeClr val="accent5"/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16" name="Number">
            <a:extLst>
              <a:ext uri="{FF2B5EF4-FFF2-40B4-BE49-F238E27FC236}">
                <a16:creationId xmlns:a16="http://schemas.microsoft.com/office/drawing/2014/main" id="{DD2FB6D0-D95C-6242-A795-CCD93D8A20F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8095" y="2878080"/>
            <a:ext cx="439953" cy="395562"/>
          </a:xfrm>
          <a:prstGeom prst="rect">
            <a:avLst/>
          </a:prstGeom>
        </p:spPr>
        <p:txBody>
          <a:bodyPr wrap="none" lIns="0" rIns="0">
            <a:noAutofit/>
          </a:bodyPr>
          <a:lstStyle>
            <a:lvl1pPr marL="0" indent="0" algn="ctr">
              <a:buNone/>
              <a:defRPr sz="2000">
                <a:solidFill>
                  <a:schemeClr val="accent5"/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15" name="Number">
            <a:extLst>
              <a:ext uri="{FF2B5EF4-FFF2-40B4-BE49-F238E27FC236}">
                <a16:creationId xmlns:a16="http://schemas.microsoft.com/office/drawing/2014/main" id="{06493D53-065B-674D-B762-76404273F0D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8095" y="2358906"/>
            <a:ext cx="439953" cy="395562"/>
          </a:xfrm>
          <a:prstGeom prst="rect">
            <a:avLst/>
          </a:prstGeom>
        </p:spPr>
        <p:txBody>
          <a:bodyPr wrap="none" lIns="0" rIns="0">
            <a:noAutofit/>
          </a:bodyPr>
          <a:lstStyle>
            <a:lvl1pPr marL="0" indent="0" algn="ctr">
              <a:buNone/>
              <a:defRPr sz="2000">
                <a:solidFill>
                  <a:schemeClr val="accent5"/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13" name="Number">
            <a:extLst>
              <a:ext uri="{FF2B5EF4-FFF2-40B4-BE49-F238E27FC236}">
                <a16:creationId xmlns:a16="http://schemas.microsoft.com/office/drawing/2014/main" id="{85B432C7-6194-C04D-8607-A1DFBA3219E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68095" y="1839732"/>
            <a:ext cx="439953" cy="395562"/>
          </a:xfrm>
          <a:prstGeom prst="rect">
            <a:avLst/>
          </a:prstGeom>
        </p:spPr>
        <p:txBody>
          <a:bodyPr wrap="none" lIns="0" rIns="0">
            <a:noAutofit/>
          </a:bodyPr>
          <a:lstStyle>
            <a:lvl1pPr marL="0" indent="0" algn="ctr">
              <a:buNone/>
              <a:defRPr sz="2000">
                <a:solidFill>
                  <a:schemeClr val="accent5"/>
                </a:solidFill>
                <a:latin typeface="Georgia"/>
                <a:ea typeface="Georgia"/>
                <a:cs typeface="Georgi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3" name="Text Field">
            <a:extLst>
              <a:ext uri="{FF2B5EF4-FFF2-40B4-BE49-F238E27FC236}">
                <a16:creationId xmlns:a16="http://schemas.microsoft.com/office/drawing/2014/main" id="{6D1BD307-5E4B-9647-A402-54CF30BEC3C6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1371411" y="3916426"/>
            <a:ext cx="10052493" cy="395562"/>
          </a:xfrm>
          <a:prstGeom prst="rect">
            <a:avLst/>
          </a:prstGeom>
        </p:spPr>
        <p:txBody>
          <a:bodyPr wrap="none" lIns="0"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70000"/>
              <a:buFont typeface="Arial"/>
              <a:buNone/>
              <a:defRPr sz="2400" b="0" i="0">
                <a:solidFill>
                  <a:schemeClr val="tx1"/>
                </a:solidFill>
                <a:latin typeface="Oracle Sans"/>
                <a:ea typeface="Oracle Sans"/>
                <a:cs typeface="Oracle Sans"/>
              </a:defRPr>
            </a:lvl1pPr>
            <a:lvl2pPr marL="4572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22" name="Text Field">
            <a:extLst>
              <a:ext uri="{FF2B5EF4-FFF2-40B4-BE49-F238E27FC236}">
                <a16:creationId xmlns:a16="http://schemas.microsoft.com/office/drawing/2014/main" id="{A5DE72B7-8353-7C47-A8C2-69DED713D17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1371411" y="3397229"/>
            <a:ext cx="10052493" cy="395562"/>
          </a:xfrm>
          <a:prstGeom prst="rect">
            <a:avLst/>
          </a:prstGeom>
        </p:spPr>
        <p:txBody>
          <a:bodyPr wrap="none" lIns="0"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70000"/>
              <a:buFont typeface="Arial"/>
              <a:buNone/>
              <a:defRPr sz="2400" b="0" i="0">
                <a:solidFill>
                  <a:schemeClr val="tx1"/>
                </a:solidFill>
                <a:latin typeface="Oracle Sans"/>
                <a:ea typeface="Oracle Sans"/>
                <a:cs typeface="Oracle Sans"/>
              </a:defRPr>
            </a:lvl1pPr>
            <a:lvl2pPr marL="4572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20" name="Text Field">
            <a:extLst>
              <a:ext uri="{FF2B5EF4-FFF2-40B4-BE49-F238E27FC236}">
                <a16:creationId xmlns:a16="http://schemas.microsoft.com/office/drawing/2014/main" id="{35FDD008-E0E6-4746-AB5B-78D012E92B2E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371411" y="2878032"/>
            <a:ext cx="10052493" cy="395562"/>
          </a:xfrm>
          <a:prstGeom prst="rect">
            <a:avLst/>
          </a:prstGeom>
        </p:spPr>
        <p:txBody>
          <a:bodyPr wrap="none" lIns="0"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70000"/>
              <a:buFont typeface="Arial"/>
              <a:buNone/>
              <a:defRPr sz="2400" b="0" i="0">
                <a:solidFill>
                  <a:schemeClr val="tx1"/>
                </a:solidFill>
                <a:latin typeface="Oracle Sans"/>
                <a:ea typeface="Oracle Sans"/>
                <a:cs typeface="Oracle Sans"/>
              </a:defRPr>
            </a:lvl1pPr>
            <a:lvl2pPr marL="4572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19" name="Text Field">
            <a:extLst>
              <a:ext uri="{FF2B5EF4-FFF2-40B4-BE49-F238E27FC236}">
                <a16:creationId xmlns:a16="http://schemas.microsoft.com/office/drawing/2014/main" id="{53E966DA-E5B9-074E-B0AA-F5451AF51BA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371411" y="2358835"/>
            <a:ext cx="10052493" cy="395562"/>
          </a:xfrm>
          <a:prstGeom prst="rect">
            <a:avLst/>
          </a:prstGeom>
        </p:spPr>
        <p:txBody>
          <a:bodyPr wrap="none" lIns="0"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70000"/>
              <a:buFont typeface="Arial"/>
              <a:buNone/>
              <a:defRPr sz="2400" b="0" i="0">
                <a:solidFill>
                  <a:schemeClr val="tx1"/>
                </a:solidFill>
                <a:latin typeface="Oracle Sans"/>
                <a:ea typeface="Oracle Sans"/>
                <a:cs typeface="Oracle Sans"/>
              </a:defRPr>
            </a:lvl1pPr>
            <a:lvl2pPr marL="4572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3" name="Text Field">
            <a:extLst>
              <a:ext uri="{FF2B5EF4-FFF2-40B4-BE49-F238E27FC236}">
                <a16:creationId xmlns:a16="http://schemas.microsoft.com/office/drawing/2014/main" id="{FD86EFD9-8225-47A7-9DFF-A350F67E9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411" y="1839638"/>
            <a:ext cx="10052493" cy="395562"/>
          </a:xfrm>
          <a:prstGeom prst="rect">
            <a:avLst/>
          </a:prstGeom>
        </p:spPr>
        <p:txBody>
          <a:bodyPr wrap="none" lIns="0"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70000"/>
              <a:buFont typeface="Arial"/>
              <a:buNone/>
              <a:defRPr sz="2400" b="0" i="0">
                <a:solidFill>
                  <a:schemeClr val="tx1"/>
                </a:solidFill>
                <a:latin typeface="Oracle Sans"/>
                <a:ea typeface="Oracle Sans"/>
                <a:cs typeface="Oracle Sans"/>
              </a:defRPr>
            </a:lvl1pPr>
            <a:lvl2pPr marL="4572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30" name="Accent Mark">
            <a:extLst>
              <a:ext uri="{FF2B5EF4-FFF2-40B4-BE49-F238E27FC236}">
                <a16:creationId xmlns:a16="http://schemas.microsoft.com/office/drawing/2014/main" id="{ABE9F382-381E-4BA6-A0AD-0CB57EBB3BDF}"/>
              </a:ext>
            </a:extLst>
          </p:cNvPr>
          <p:cNvSpPr>
            <a:spLocks noGrp="1"/>
          </p:cNvSpPr>
          <p:nvPr/>
        </p:nvSpPr>
        <p:spPr>
          <a:xfrm flipH="1">
            <a:off x="768095" y="1584959"/>
            <a:ext cx="320040" cy="0"/>
          </a:xfrm>
          <a:prstGeom prst="line">
            <a:avLst/>
          </a:prstGeom>
          <a:ln w="381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1F2D107A-3A71-E74E-9042-888785621363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62000" y="508000"/>
            <a:ext cx="10671048" cy="822960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>
              <a:buNone/>
            </a:pPr>
            <a:r>
              <a:t>Title</a:t>
            </a:r>
          </a:p>
        </p:txBody>
      </p:sp>
      <p:pic>
        <p:nvPicPr>
          <p:cNvPr id="50" name="Abstract Pattern Stri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5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ight - 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Data Texture Cloud"/>
          <p:cNvPicPr>
            <a:picLocks noChangeAspect="1"/>
          </p:cNvPicPr>
          <p:nvPr/>
        </p:nvPicPr>
        <p:blipFill rotWithShape="1">
          <a:blip r:embed="rId2">
            <a:alphaModFix amt="80000"/>
          </a:blip>
          <a:srcRect r="48609"/>
          <a:stretch/>
        </p:blipFill>
        <p:spPr>
          <a:xfrm>
            <a:off x="9881411" y="521208"/>
            <a:ext cx="2310589" cy="1700784"/>
          </a:xfrm>
          <a:prstGeom prst="rect">
            <a:avLst/>
          </a:prstGeom>
        </p:spPr>
      </p:pic>
      <p:pic>
        <p:nvPicPr>
          <p:cNvPr id="19" name="OTa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12" name="Footer">
            <a:extLst>
              <a:ext uri="{FF2B5EF4-FFF2-40B4-BE49-F238E27FC236}">
                <a16:creationId xmlns:a16="http://schemas.microsoft.com/office/drawing/2014/main" id="{094BB478-39FC-BC45-B020-64CE083CBD8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buNone/>
              <a:defRPr sz="1000">
                <a:solidFill>
                  <a:srgbClr val="8B8580"/>
                </a:solidFill>
              </a:defRPr>
            </a:lvl1pPr>
          </a:lstStyle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AA183BAF-A3AC-2441-881F-3E02660F877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buNone/>
              <a:defRPr sz="10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t>‹#›</a:t>
            </a:fld>
            <a:endParaRPr/>
          </a:p>
        </p:txBody>
      </p:sp>
      <p:sp>
        <p:nvSpPr>
          <p:cNvPr id="14" name="Accent Mark">
            <a:extLst>
              <a:ext uri="{FF2B5EF4-FFF2-40B4-BE49-F238E27FC236}">
                <a16:creationId xmlns:a16="http://schemas.microsoft.com/office/drawing/2014/main" id="{017C1DD2-082A-480F-8146-2390C59C33F8}"/>
              </a:ext>
            </a:extLst>
          </p:cNvPr>
          <p:cNvSpPr>
            <a:spLocks noGrp="1"/>
          </p:cNvSpPr>
          <p:nvPr/>
        </p:nvSpPr>
        <p:spPr>
          <a:xfrm flipH="1">
            <a:off x="768095" y="1584959"/>
            <a:ext cx="320040" cy="0"/>
          </a:xfrm>
          <a:prstGeom prst="line">
            <a:avLst/>
          </a:prstGeom>
          <a:ln w="381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CF093CC-9165-2740-A9A1-C2DF5C8D69C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62000" y="508000"/>
            <a:ext cx="10671048" cy="822960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>
              <a:buNone/>
            </a:pPr>
            <a:r>
              <a:t>Title</a:t>
            </a:r>
          </a:p>
        </p:txBody>
      </p:sp>
      <p:pic>
        <p:nvPicPr>
          <p:cNvPr id="24" name="Abstract Pattern Stri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5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ight - Thank Yo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Abstract Illustration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000" y="4898"/>
            <a:ext cx="6096000" cy="6858000"/>
          </a:xfrm>
          <a:prstGeom prst="rect">
            <a:avLst/>
          </a:prstGeom>
        </p:spPr>
      </p:pic>
      <p:pic>
        <p:nvPicPr>
          <p:cNvPr id="20" name="OTa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15" name="Footer">
            <a:extLst>
              <a:ext uri="{FF2B5EF4-FFF2-40B4-BE49-F238E27FC236}">
                <a16:creationId xmlns:a16="http://schemas.microsoft.com/office/drawing/2014/main" id="{AC796A58-6878-0644-885E-17721EE64E2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buNone/>
              <a:defRPr sz="1000">
                <a:solidFill>
                  <a:srgbClr val="8B8580"/>
                </a:solidFill>
              </a:defRPr>
            </a:lvl1pPr>
          </a:lstStyle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D3FFBA5B-62FF-264E-B8E4-FF1CAC709E1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buNone/>
              <a:defRPr sz="10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t>‹#›</a:t>
            </a:fld>
            <a:endParaRPr/>
          </a:p>
        </p:txBody>
      </p:sp>
      <p:sp>
        <p:nvSpPr>
          <p:cNvPr id="10" name="Text Field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62000" y="5152453"/>
            <a:ext cx="5029200" cy="895181"/>
          </a:xfrm>
        </p:spPr>
        <p:txBody>
          <a:bodyPr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762000" y="4814860"/>
            <a:ext cx="5029200" cy="266291"/>
          </a:xfrm>
        </p:spPr>
        <p:txBody>
          <a:bodyPr>
            <a:noAutofit/>
          </a:bodyPr>
          <a:lstStyle>
            <a:lvl1pPr>
              <a:buNone/>
              <a:defRPr b="1"/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13" name="Accent Mark">
            <a:extLst>
              <a:ext uri="{FF2B5EF4-FFF2-40B4-BE49-F238E27FC236}">
                <a16:creationId xmlns:a16="http://schemas.microsoft.com/office/drawing/2014/main" id="{FB997AF1-3F88-4F9D-B935-C0D0B49D9C25}"/>
              </a:ext>
            </a:extLst>
          </p:cNvPr>
          <p:cNvSpPr>
            <a:spLocks noGrp="1"/>
          </p:cNvSpPr>
          <p:nvPr/>
        </p:nvSpPr>
        <p:spPr>
          <a:xfrm flipH="1">
            <a:off x="768098" y="4561089"/>
            <a:ext cx="320040" cy="0"/>
          </a:xfrm>
          <a:prstGeom prst="line">
            <a:avLst/>
          </a:prstGeom>
          <a:ln w="381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Thank You">
            <a:extLst>
              <a:ext uri="{FF2B5EF4-FFF2-40B4-BE49-F238E27FC236}">
                <a16:creationId xmlns:a16="http://schemas.microsoft.com/office/drawing/2014/main" id="{1A667D4A-FE6C-2E44-8B9A-7F595154584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2001" y="3814489"/>
            <a:ext cx="5029200" cy="49244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 b="0" i="0">
                <a:latin typeface="+mj-lt"/>
                <a:ea typeface="+mj-lt"/>
                <a:cs typeface="+mj-lt"/>
              </a:defRPr>
            </a:lvl1pPr>
          </a:lstStyle>
          <a:p>
            <a:pPr>
              <a:buNone/>
            </a:pPr>
            <a:r>
              <a:t>Thank you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- Numbered Outlin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762000" y="1609724"/>
            <a:ext cx="5084064" cy="4505325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365125" indent="-365125">
              <a:buClr>
                <a:srgbClr val="CC4520"/>
              </a:buClr>
              <a:buFont typeface="+mj-lt"/>
              <a:buAutoNum type="arabicPeriod"/>
              <a:defRPr/>
            </a:lvl1pPr>
            <a:lvl2pPr marL="548640">
              <a:buNone/>
              <a:defRPr/>
            </a:lvl2pPr>
            <a:lvl3pPr marL="731520">
              <a:buNone/>
              <a:defRPr/>
            </a:lvl3pPr>
            <a:lvl4pPr marL="914400">
              <a:buNone/>
              <a:defRPr/>
            </a:lvl4pPr>
            <a:lvl5pPr marL="1097280">
              <a:buNone/>
              <a:defRPr/>
            </a:lvl5pPr>
          </a:lstStyle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idx="4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idx="46"/>
          </p:nvPr>
        </p:nvSpPr>
        <p:spPr/>
        <p:txBody>
          <a:bodyPr/>
          <a:lstStyle/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idx="47"/>
          </p:nvPr>
        </p:nvSpPr>
        <p:spPr/>
        <p:txBody>
          <a:bodyPr/>
          <a:lstStyle/>
          <a:p>
            <a:fld id="{345D60D9-5372-5F40-9443-0F9AE5BDC3C8}" type="slidenum">
              <a:t>‹#›</a:t>
            </a:fld>
            <a:endParaRPr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idx="48"/>
          </p:nvPr>
        </p:nvSpPr>
        <p:spPr>
          <a:xfrm>
            <a:off x="6364986" y="1609724"/>
            <a:ext cx="5084064" cy="4505325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365125" indent="-365125">
              <a:buClr>
                <a:srgbClr val="CC4520"/>
              </a:buClr>
              <a:buFont typeface="+mj-lt"/>
              <a:buAutoNum type="arabicPeriod"/>
              <a:defRPr/>
            </a:lvl1pPr>
            <a:lvl2pPr marL="548640">
              <a:buNone/>
              <a:defRPr/>
            </a:lvl2pPr>
            <a:lvl3pPr marL="731520">
              <a:buNone/>
              <a:defRPr/>
            </a:lvl3pPr>
            <a:lvl4pPr marL="914400">
              <a:buNone/>
              <a:defRPr/>
            </a:lvl4pPr>
            <a:lvl5pPr marL="1097280">
              <a:buNone/>
              <a:defRPr/>
            </a:lvl5pPr>
          </a:lstStyle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D4889E-F4D9-44F5-A86F-ADD971D8E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EFD5D-E90B-4877-A190-612924041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D854A-8C5F-456F-889E-9712C38651D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0B1A4-FD84-4683-8993-EE9C5B99062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Copyright © 2025, Oracle and/or its affiliates  |  Confidential: Internal/Restricted/Highly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9D3EF-567D-4DD8-8BDF-AE4D78DD85E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D60D9-5372-5F40-9443-0F9AE5BDC3C8}" type="slidenum">
              <a:t>‹#›</a:t>
            </a:fld>
            <a:endParaRPr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DFEA0B9-386B-49AC-890A-166E3949E7FF}"/>
              </a:ext>
            </a:extLst>
          </p:cNvPr>
          <p:cNvSpPr>
            <a:spLocks noGrp="1"/>
          </p:cNvSpPr>
          <p:nvPr/>
        </p:nvSpPr>
        <p:spPr>
          <a:xfrm>
            <a:off x="762000" y="6057900"/>
            <a:ext cx="234696" cy="36576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1000" kern="1200">
                <a:solidFill>
                  <a:srgbClr val="8B8580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C2EC2C-CCC2-32D0-829C-0FE6D74877DF}"/>
              </a:ext>
            </a:extLst>
          </p:cNvPr>
          <p:cNvSpPr>
            <a:spLocks noGrp="1"/>
          </p:cNvSpPr>
          <p:nvPr/>
        </p:nvSpPr>
        <p:spPr>
          <a:xfrm>
            <a:off x="63500" y="63500"/>
            <a:ext cx="2538413" cy="15240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l">
              <a:buNone/>
            </a:pPr>
            <a:r>
              <a:rPr sz="1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Confidential - Oracle Restricted \Employees Only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ED31F7-3DAE-4B93-E14E-D573E95670E8}"/>
              </a:ext>
            </a:extLst>
          </p:cNvPr>
          <p:cNvSpPr>
            <a:spLocks noGrp="1"/>
          </p:cNvSpPr>
          <p:nvPr/>
        </p:nvSpPr>
        <p:spPr>
          <a:xfrm>
            <a:off x="63500" y="6642100"/>
            <a:ext cx="2538413" cy="15240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l">
              <a:buNone/>
            </a:pPr>
            <a:r>
              <a:rPr sz="1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Confidential - Oracle Restricted \Employees Only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6FBCB0-1F63-ACA1-4344-DA8A5F817B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1C755F-28A6-C45A-271C-A7531B5EDA7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012FC85-23EB-4B04-8C0A-EFF0BD0D2AE5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1014986" y="4444677"/>
            <a:ext cx="10158984" cy="578735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sz="1800" b="1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Gajula Sathish</a:t>
            </a:r>
          </a:p>
          <a:p>
            <a:pPr>
              <a:buFont typeface="Arial"/>
              <a:buChar char="•"/>
            </a:pPr>
            <a:r>
              <a:rPr sz="1800" b="1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07 August 2026</a:t>
            </a:r>
          </a:p>
          <a:p>
            <a:pPr>
              <a:buFont typeface="Arial"/>
              <a:buChar char="•"/>
            </a:pPr>
            <a:r>
              <a:rPr sz="1800" b="1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Grad-hire Project | Angular + Spring Boot Microservices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C097CB7-FFC8-4A30-8524-59A5DF10D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3521" y="2320684"/>
            <a:ext cx="10417602" cy="1025922"/>
          </a:xfrm>
        </p:spPr>
        <p:txBody>
          <a:bodyPr/>
          <a:lstStyle/>
          <a:p>
            <a:pPr algn="ctr">
              <a:buNone/>
            </a:pPr>
            <a:r>
              <a:rPr sz="3200"/>
              <a:t>Credence — Credit Card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4058850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The project turns requirements into measurable controls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E2598689-54C9-18A7-3A19-ED76AA08988F}" type="slidenum">
              <a:rPr sz="1200">
                <a:solidFill>
                  <a:srgbClr val="312D2A"/>
                </a:solidFill>
              </a:rPr>
              <a:t>2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0600" y="1657350"/>
            <a:ext cx="101346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Live APIs keep every role on one source of truth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202359C0-8A7A-196E-DD58-8E6569619F09}" type="slidenum">
              <a:rPr sz="1200">
                <a:solidFill>
                  <a:srgbClr val="312D2A"/>
                </a:solidFill>
              </a:rPr>
              <a:t>3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0600" y="1657350"/>
            <a:ext cx="101346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Each service owns one business capability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EFD6AB9A-5F9E-5F59-51AB-3C8734130965}" type="slidenum">
              <a:rPr sz="1200">
                <a:solidFill>
                  <a:srgbClr val="312D2A"/>
                </a:solidFill>
              </a:rPr>
              <a:t>4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0100" y="1562100"/>
            <a:ext cx="105918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JWT and role boundaries protect every experience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EE5B3003-2C54-13C6-9832-7637201064DE}" type="slidenum">
              <a:rPr sz="1200">
                <a:solidFill>
                  <a:srgbClr val="312D2A"/>
                </a:solidFill>
              </a:rPr>
              <a:t>5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0600" y="1657350"/>
            <a:ext cx="101346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A card account is more than a physical card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8C630A04-5A25-9E0C-9436-126091DB86B3}" type="slidenum">
              <a:rPr sz="1200">
                <a:solidFill>
                  <a:srgbClr val="312D2A"/>
                </a:solidFill>
              </a:rPr>
              <a:t>6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0600" y="1657350"/>
            <a:ext cx="101346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Credit is reserved before settlement—not after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D3D7D1C8-AE23-AA48-DF65-C742588DBE47}" type="slidenum">
              <a:rPr sz="1200">
                <a:solidFill>
                  <a:srgbClr val="312D2A"/>
                </a:solidFill>
              </a:rPr>
              <a:t>7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0600" y="1657350"/>
            <a:ext cx="101346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Validation is enforced where the business rule lives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BA58DA2A-B818-18A9-29C1-B697728D5BCE}" type="slidenum">
              <a:rPr sz="1200">
                <a:solidFill>
                  <a:srgbClr val="312D2A"/>
                </a:solidFill>
              </a:rPr>
              <a:t>8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0100" y="1562100"/>
            <a:ext cx="105918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The dashboard turns live activity into action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388657AE-30A1-5A7A-6A7F-315D84436430}" type="slidenum">
              <a:rPr sz="1200">
                <a:solidFill>
                  <a:srgbClr val="312D2A"/>
                </a:solidFill>
              </a:rPr>
              <a:t>9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0600" y="1657350"/>
            <a:ext cx="101346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Card operations stay searchable, governed and auditable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DB7BEEEC-A170-5376-2B6E-CB54687B0CB1}" type="slidenum">
              <a:rPr sz="1200">
                <a:solidFill>
                  <a:srgbClr val="312D2A"/>
                </a:solidFill>
              </a:rPr>
              <a:t>10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78708" y="1562100"/>
            <a:ext cx="8434584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Customer details connect identity, cards and alerts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30394428-F1DC-E5F6-DB0C-7DE31F3D8A23}" type="slidenum">
              <a:rPr sz="1200">
                <a:solidFill>
                  <a:srgbClr val="312D2A"/>
                </a:solidFill>
              </a:rPr>
              <a:t>11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76693" y="1562100"/>
            <a:ext cx="823861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Merchant details expose eligible cards and transaction history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4DB16885-0D3F-A391-B669-3211DB3B26E8}" type="slidenum">
              <a:rPr sz="1200">
                <a:solidFill>
                  <a:srgbClr val="312D2A"/>
                </a:solidFill>
              </a:rPr>
              <a:t>12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63447" y="1562100"/>
            <a:ext cx="8265107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Card details bring status, balance and lifecycle controls together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2DD23107-4986-8758-3A93-3D74F35908CC}" type="slidenum">
              <a:rPr sz="1200">
                <a:solidFill>
                  <a:srgbClr val="312D2A"/>
                </a:solidFill>
              </a:rPr>
              <a:t>13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81404" y="1562100"/>
            <a:ext cx="8229192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A complete transaction record supports investigation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327921A4-25C4-3DB4-06B1-32693CEE2241}" type="slidenum">
              <a:rPr sz="1200">
                <a:solidFill>
                  <a:srgbClr val="312D2A"/>
                </a:solidFill>
              </a:rPr>
              <a:t>14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60586" y="1562100"/>
            <a:ext cx="8270828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The AI assistant adds governed natural-language operations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EA83FA91-883A-0168-8075-96CEB9DCA3C2}" type="slidenum">
              <a:rPr sz="1200">
                <a:solidFill>
                  <a:srgbClr val="312D2A"/>
                </a:solidFill>
              </a:rPr>
              <a:t>15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95210" y="1562100"/>
            <a:ext cx="820158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pPr>
              <a:defRPr sz="3450">
                <a:solidFill>
                  <a:srgbClr val="312D2A"/>
                </a:solidFill>
              </a:defRPr>
            </a:pPr>
            <a:r>
              <a:rPr sz="3450">
                <a:solidFill>
                  <a:srgbClr val="312D2A"/>
                </a:solidFill>
              </a:rPr>
              <a:t>The hardest issues became reusable engineering safeguards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DC9C7607-4BA3-B4DC-A00F-2E67A9FCFF7E}" type="slidenum">
              <a:rPr sz="1200">
                <a:solidFill>
                  <a:srgbClr val="312D2A"/>
                </a:solidFill>
              </a:rPr>
              <a:t>16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0600" y="1657350"/>
            <a:ext cx="101346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E1603C1-C3BA-DA6D-97E1-6BEB6C25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1066800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20E77-382F-9DAB-E46D-10D0A1D8A3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7462" y="6273333"/>
            <a:ext cx="6529552" cy="448142"/>
          </a:xfrm>
        </p:spPr>
        <p:txBody>
          <a:bodyPr/>
          <a:lstStyle/>
          <a:p>
            <a:pPr>
              <a:defRPr sz="1200">
                <a:solidFill>
                  <a:srgbClr val="312D2A"/>
                </a:solidFill>
              </a:defRPr>
            </a:pPr>
            <a:r>
              <a:rPr sz="1200">
                <a:solidFill>
                  <a:srgbClr val="312D2A"/>
                </a:solidFill>
              </a:rP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7E49-FDF1-4221-9493-C980D3D357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175375"/>
            <a:ext cx="2743200" cy="365125"/>
          </a:xfrm>
        </p:spPr>
        <p:txBody>
          <a:bodyPr/>
          <a:lstStyle/>
          <a:p>
            <a:pPr algn="r">
              <a:defRPr sz="1200">
                <a:solidFill>
                  <a:srgbClr val="312D2A"/>
                </a:solidFill>
              </a:defRPr>
            </a:pPr>
            <a:fld id="{90F7333B-44AC-F7E9-D49D-FE92F45E0477}" type="slidenum">
              <a:rPr sz="1200">
                <a:solidFill>
                  <a:srgbClr val="312D2A"/>
                </a:solidFill>
              </a:rPr>
              <a:t>17</a:t>
            </a:fld>
            <a:endParaRPr sz="1200">
              <a:solidFill>
                <a:srgbClr val="312D2A"/>
              </a:solidFill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5966690"/>
            <a:ext cx="2954344" cy="8913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0600" y="1657350"/>
            <a:ext cx="101346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67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78E656-C7DA-5166-D859-62FFD8B07FDF}"/>
              </a:ext>
            </a:extLst>
          </p:cNvPr>
          <p:cNvSpPr>
            <a:spLocks noGrp="1"/>
          </p:cNvSpPr>
          <p:nvPr>
            <p:ph type="ftr" idx="46"/>
          </p:nvPr>
        </p:nvSpPr>
        <p:spPr/>
        <p:txBody>
          <a:bodyPr/>
          <a:lstStyle/>
          <a:p>
            <a:r>
              <a:t>Copyright © 2026, Oracle and/or its affiliates  |  Confidential: Internal/Restricted/Highly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3A573B-0109-5E69-D86D-BF0D9ACB856E}"/>
              </a:ext>
            </a:extLst>
          </p:cNvPr>
          <p:cNvSpPr>
            <a:spLocks noGrp="1"/>
          </p:cNvSpPr>
          <p:nvPr>
            <p:ph type="sldNum" idx="47"/>
          </p:nvPr>
        </p:nvSpPr>
        <p:spPr/>
        <p:txBody>
          <a:bodyPr/>
          <a:lstStyle/>
          <a:p>
            <a:fld id="{B1C6C81E-38B9-7560-621D-5A151A79DF9B}" type="slidenum">
              <a:rPr/>
              <a:t>18</a:t>
            </a:fld>
            <a:endParaRPr/>
          </a:p>
        </p:txBody>
      </p:sp>
      <p:pic>
        <p:nvPicPr>
          <p:cNvPr id="17" name="Image 1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64" y="0"/>
            <a:ext cx="12192000" cy="6858000"/>
          </a:xfrm>
          <a:prstGeom prst="rect">
            <a:avLst/>
          </a:prstGeom>
        </p:spPr>
      </p:pic>
      <p:sp>
        <p:nvSpPr>
          <p:cNvPr id="9" name="Graphic 145">
            <a:extLst>
              <a:ext uri="{FF2B5EF4-FFF2-40B4-BE49-F238E27FC236}">
                <a16:creationId xmlns:a16="http://schemas.microsoft.com/office/drawing/2014/main" id="{BAAE8B51-5794-61FD-8DEA-5921E60EFE97}"/>
              </a:ext>
            </a:extLst>
          </p:cNvPr>
          <p:cNvSpPr>
            <a:spLocks noGrp="1"/>
          </p:cNvSpPr>
          <p:nvPr/>
        </p:nvSpPr>
        <p:spPr>
          <a:xfrm>
            <a:off x="11537612" y="6237194"/>
            <a:ext cx="401955" cy="391795"/>
          </a:xfrm>
          <a:custGeom>
            <a:avLst/>
            <a:gdLst/>
            <a:ahLst/>
            <a:cxnLst/>
            <a:rect l="l" t="t" r="r" b="b"/>
            <a:pathLst>
              <a:path w="401955" h="391795">
                <a:moveTo>
                  <a:pt x="401583" y="0"/>
                </a:moveTo>
                <a:lnTo>
                  <a:pt x="0" y="0"/>
                </a:lnTo>
                <a:lnTo>
                  <a:pt x="0" y="391594"/>
                </a:lnTo>
                <a:lnTo>
                  <a:pt x="401583" y="391594"/>
                </a:lnTo>
                <a:lnTo>
                  <a:pt x="401583" y="0"/>
                </a:lnTo>
                <a:close/>
              </a:path>
            </a:pathLst>
          </a:custGeom>
          <a:solidFill>
            <a:srgbClr val="C7352F"/>
          </a:solidFill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pic>
        <p:nvPicPr>
          <p:cNvPr id="19" name="Image 1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6069" y="6362817"/>
            <a:ext cx="224668" cy="1398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218221-696D-1189-919C-A6AA0147BBD3}"/>
              </a:ext>
            </a:extLst>
          </p:cNvPr>
          <p:cNvSpPr>
            <a:spLocks noGrp="1"/>
          </p:cNvSpPr>
          <p:nvPr/>
        </p:nvSpPr>
        <p:spPr>
          <a:xfrm>
            <a:off x="1945531" y="272810"/>
            <a:ext cx="9905205" cy="4863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0085" marR="5159375">
              <a:lnSpc>
                <a:spcPct val="196000"/>
              </a:lnSpc>
              <a:spcAft>
                <a:spcPts val="0"/>
              </a:spcAft>
              <a:buNone/>
            </a:pPr>
            <a:endParaRPr dirty="0"/>
          </a:p>
          <a:p>
            <a:pPr marL="680085" marR="5159375">
              <a:lnSpc>
                <a:spcPct val="196000"/>
              </a:lnSpc>
              <a:spcAft>
                <a:spcPts val="0"/>
              </a:spcAft>
              <a:buNone/>
            </a:pPr>
            <a:endParaRPr dirty="0"/>
          </a:p>
          <a:p>
            <a:pPr marL="680085" marR="5159375">
              <a:lnSpc>
                <a:spcPct val="196000"/>
              </a:lnSpc>
              <a:spcAft>
                <a:spcPts val="0"/>
              </a:spcAft>
              <a:buNone/>
            </a:pPr>
            <a:endParaRPr dirty="0"/>
          </a:p>
          <a:p>
            <a:pPr marL="680085" marR="5159375">
              <a:lnSpc>
                <a:spcPct val="196000"/>
              </a:lnSpc>
              <a:spcAft>
                <a:spcPts val="0"/>
              </a:spcAft>
              <a:buNone/>
            </a:pPr>
            <a:endParaRPr dirty="0"/>
          </a:p>
          <a:p>
            <a:pPr marL="680085" marR="5159375">
              <a:lnSpc>
                <a:spcPct val="196000"/>
              </a:lnSpc>
              <a:spcAft>
                <a:spcPts val="0"/>
              </a:spcAft>
              <a:buNone/>
              <a:defRPr sz="2025">
                <a:solidFill>
                  <a:srgbClr val="312D2A"/>
                </a:solidFill>
              </a:defRPr>
            </a:pPr>
            <a:r>
              <a:rPr sz="2025" dirty="0">
                <a:solidFill>
                  <a:srgbClr val="312D2A"/>
                </a:solidFill>
              </a:rPr>
              <a:t>Credence demonstrates how secure domain rules, live microservices and a role-aware Angular experience can manage the complete credit-card lifecycle.</a:t>
            </a:r>
          </a:p>
          <a:p>
            <a:pPr marL="680085" marR="5159375">
              <a:lnSpc>
                <a:spcPct val="196000"/>
              </a:lnSpc>
              <a:spcAft>
                <a:spcPts val="0"/>
              </a:spcAft>
              <a:buNone/>
            </a:pPr>
            <a:endParaRPr sz="2025" dirty="0">
              <a:solidFill>
                <a:srgbClr val="312D2A"/>
              </a:solidFill>
            </a:endParaRPr>
          </a:p>
          <a:p>
            <a:pPr marL="680085" marR="5159375">
              <a:lnSpc>
                <a:spcPct val="196000"/>
              </a:lnSpc>
              <a:spcAft>
                <a:spcPts val="0"/>
              </a:spcAft>
              <a:buNone/>
              <a:defRPr sz="2025">
                <a:solidFill>
                  <a:srgbClr val="312D2A"/>
                </a:solidFill>
              </a:defRPr>
            </a:pPr>
            <a:r>
              <a:rPr sz="2025" b="1" dirty="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Questions &amp; comments</a:t>
            </a:r>
          </a:p>
        </p:txBody>
      </p:sp>
    </p:spTree>
    <p:extLst>
      <p:ext uri="{BB962C8B-B14F-4D97-AF65-F5344CB8AC3E}">
        <p14:creationId xmlns:p14="http://schemas.microsoft.com/office/powerpoint/2010/main" val="2960996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Office PowerPoint</Application>
  <DocSecurity>0</DocSecurity>
  <PresentationFormat>Widescreen</PresentationFormat>
  <Paragraphs>60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Georgia</vt:lpstr>
      <vt:lpstr>Oracle Sans</vt:lpstr>
      <vt:lpstr>Office Theme</vt:lpstr>
      <vt:lpstr>Credence — Credit Card Management System</vt:lpstr>
      <vt:lpstr>The project turns requirements into measurable controls</vt:lpstr>
      <vt:lpstr>Live APIs keep every role on one source of truth</vt:lpstr>
      <vt:lpstr>Each service owns one business capability</vt:lpstr>
      <vt:lpstr>JWT and role boundaries protect every experience</vt:lpstr>
      <vt:lpstr>A card account is more than a physical card</vt:lpstr>
      <vt:lpstr>Credit is reserved before settlement—not after</vt:lpstr>
      <vt:lpstr>Validation is enforced where the business rule lives</vt:lpstr>
      <vt:lpstr>The dashboard turns live activity into action</vt:lpstr>
      <vt:lpstr>Card operations stay searchable, governed and auditable</vt:lpstr>
      <vt:lpstr>Customer details connect identity, cards and alerts</vt:lpstr>
      <vt:lpstr>Merchant details expose eligible cards and transaction history</vt:lpstr>
      <vt:lpstr>Card details bring status, balance and lifecycle controls together</vt:lpstr>
      <vt:lpstr>A complete transaction record supports investigation</vt:lpstr>
      <vt:lpstr>The AI assistant adds governed natural-language operations</vt:lpstr>
      <vt:lpstr>The hardest issues became reusable engineering safeguards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Gajula Sathish</cp:lastModifiedBy>
  <cp:revision>1</cp:revision>
  <dcterms:created xsi:type="dcterms:W3CDTF">2026-08-07T04:46:33Z</dcterms:created>
  <dcterms:modified xsi:type="dcterms:W3CDTF">2026-08-07T05:40:08Z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Theme:13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Office Theme:12</vt:lpwstr>
  </property>
  <property fmtid="{D5CDD505-2E9C-101B-9397-08002B2CF9AE}" pid="5" name="ClassificationContentMarkingHeaderText">
    <vt:lpwstr>Confidential - Oracle Restricted \Employees Only</vt:lpwstr>
  </property>
</Properties>
</file>